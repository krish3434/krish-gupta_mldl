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356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C3566"/>
                </a:solidFill>
                <a:latin typeface="Arial"/>
              </a:rPr>
              <a:t>R² Score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35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Train</c:v>
                  </c:pt>
                  <c:pt idx="1">
                    <c:v>Test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0.94</c:v>
                </c:pt>
                <c:pt idx="1">
                  <c:v>0.83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35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1097280"/>
            <a:ext cx="1645920" cy="1371600"/>
          </a:xfrm>
          <a:prstGeom prst="rect">
            <a:avLst/>
          </a:prstGeom>
          <a:solidFill>
            <a:srgbClr val="0A7A70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914400"/>
            <a:ext cx="118872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0" y="100584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🏠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57200" y="548640"/>
            <a:ext cx="25603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48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MINI PROJECT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XGBoost Regression 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Housing Dataset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Gupta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Kajal Jewani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160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5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68580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85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 depend on complex factors like location, size, age, income levels, and population density.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18688" y="68580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68580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685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55848" y="118872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predictions help buyers, sellers, and banks make better financial decisions.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63056" y="68580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68580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685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0216" y="118872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offers a data-driven approach to predict prices faster and more accurately than traditional methods.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5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685800"/>
            <a:ext cx="8686800" cy="1005840"/>
          </a:xfrm>
          <a:prstGeom prst="rect">
            <a:avLst/>
          </a:prstGeom>
          <a:solidFill>
            <a:srgbClr val="1C3566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694944"/>
            <a:ext cx="85039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median house price for a California district based 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 and housing features using XGBoost Regression.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18288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" y="2240280"/>
            <a:ext cx="4251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240280"/>
            <a:ext cx="4572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24028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31343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XGBoost regression model to predict California house prices.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251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240280"/>
            <a:ext cx="4572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24028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57800" y="231343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feature correlations and distributions through visualizations.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3154680"/>
            <a:ext cx="4251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154680"/>
            <a:ext cx="4572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15468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using R² Score and MAE on train and test data.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154680"/>
            <a:ext cx="4572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15468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322783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6 graphs covering heatmap, residuals, and feature importance.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4069080"/>
            <a:ext cx="4251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4069080"/>
            <a:ext cx="4572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06908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414223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live user input and return predicted price in dollar format.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4069080"/>
            <a:ext cx="4251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4069080"/>
            <a:ext cx="4572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06908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414223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features most influential in determining house price.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5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685800"/>
            <a:ext cx="3474720" cy="4114800"/>
          </a:xfrm>
          <a:prstGeom prst="rect">
            <a:avLst/>
          </a:prstGeom>
          <a:solidFill>
            <a:srgbClr val="1C356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74980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sklearn.datasets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7099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California Housing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21854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Records: 20,640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26609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Used: 6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" y="31363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Median House Price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Unit: $100,000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" y="40873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Dropped: Latitude, Longitude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685800"/>
          <a:ext cx="4937760" cy="41148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</a:tblGrid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MedInc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income of households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age of houses in block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AveRooms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number of rooms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AveBedrms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number of bedrooms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group population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AveOccup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household occupancy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5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685800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685800"/>
            <a:ext cx="45720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8580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7772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1430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California Housing from sklearn; converted to Pandas DataFrame.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685800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685800"/>
            <a:ext cx="457200" cy="123444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68580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57800" y="7772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Irrelevant Columns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11430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Latitude and Longitude — not needed for simplified price regression.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2103120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103120"/>
            <a:ext cx="45720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10312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21945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Missing Values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25603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has no missing values; no imputation required.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103120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103120"/>
            <a:ext cx="457200" cy="123444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10312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57800" y="21945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&amp; Target Split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57800" y="25603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6 feature columns; Y = 'price' target column.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28600" y="3520440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520440"/>
            <a:ext cx="45720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52044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77240" y="3611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" y="39776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heatmap (Graph 1) to understand feature relationships.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520440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520440"/>
            <a:ext cx="457200" cy="123444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52044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257800" y="3611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57800" y="39776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(16,512 samples) / 20% Test (4,128 samples), random_state=2.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5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Model Architecture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685800"/>
            <a:ext cx="4114800" cy="4114800"/>
          </a:xfrm>
          <a:prstGeom prst="rect">
            <a:avLst/>
          </a:prstGeom>
          <a:solidFill>
            <a:srgbClr val="1C356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4980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26187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Ensemble of decision trees trained sequentially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" y="16916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Each tree corrects errors of the previous one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7472" y="212140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Uses gradient descent to minimise loss (MSE)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" y="255117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Built-in L1 &amp; L2 regularization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7472" y="298094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Handles non-linear relationships effectively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7472" y="341071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Default params: 100 trees, max_depth=6, lr=0.3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" y="38404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Objective: reg:squarederror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17720" y="6858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Workflow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1115568"/>
            <a:ext cx="4297680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11556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499616"/>
            <a:ext cx="0" cy="731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1572768"/>
            <a:ext cx="4297680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157276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Lat/Long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956816"/>
            <a:ext cx="0" cy="731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2029968"/>
            <a:ext cx="4297680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202996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 80/20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2414016"/>
            <a:ext cx="0" cy="731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2487168"/>
            <a:ext cx="4297680" cy="384048"/>
          </a:xfrm>
          <a:prstGeom prst="roundRect">
            <a:avLst>
              <a:gd name="adj" fmla="val 16667"/>
            </a:avLst>
          </a:prstGeom>
          <a:solidFill>
            <a:srgbClr val="0369A1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248716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XGBRegressor.fit()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2871216"/>
            <a:ext cx="0" cy="731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2944368"/>
            <a:ext cx="4297680" cy="384048"/>
          </a:xfrm>
          <a:prstGeom prst="roundRect">
            <a:avLst>
              <a:gd name="adj" fmla="val 16667"/>
            </a:avLst>
          </a:prstGeom>
          <a:solidFill>
            <a:srgbClr val="0A7A70"/>
          </a:solidFill>
          <a:ln/>
        </p:spPr>
      </p:sp>
      <p:sp>
        <p:nvSpPr>
          <p:cNvPr id="29" name="Text 27"/>
          <p:cNvSpPr/>
          <p:nvPr/>
        </p:nvSpPr>
        <p:spPr>
          <a:xfrm>
            <a:off x="4617720" y="294436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on Test Set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66560" y="3328416"/>
            <a:ext cx="0" cy="731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3401568"/>
            <a:ext cx="4297680" cy="384048"/>
          </a:xfrm>
          <a:prstGeom prst="roundRect">
            <a:avLst>
              <a:gd name="adj" fmla="val 16667"/>
            </a:avLst>
          </a:prstGeom>
          <a:solidFill>
            <a:srgbClr val="0A7A70"/>
          </a:solidFill>
          <a:ln/>
        </p:spPr>
      </p:sp>
      <p:sp>
        <p:nvSpPr>
          <p:cNvPr id="32" name="Text 30"/>
          <p:cNvSpPr/>
          <p:nvPr/>
        </p:nvSpPr>
        <p:spPr>
          <a:xfrm>
            <a:off x="4617720" y="340156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Evaluate: R², MAE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66560" y="3785616"/>
            <a:ext cx="0" cy="731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3858768"/>
            <a:ext cx="4297680" cy="384048"/>
          </a:xfrm>
          <a:prstGeom prst="roundRect">
            <a:avLst>
              <a:gd name="adj" fmla="val 16667"/>
            </a:avLst>
          </a:prstGeom>
          <a:solidFill>
            <a:srgbClr val="0A7A70"/>
          </a:solidFill>
          <a:ln/>
        </p:spPr>
      </p:sp>
      <p:sp>
        <p:nvSpPr>
          <p:cNvPr id="35" name="Text 33"/>
          <p:cNvSpPr/>
          <p:nvPr/>
        </p:nvSpPr>
        <p:spPr>
          <a:xfrm>
            <a:off x="4617720" y="385876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Graphs Generated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66560" y="4242816"/>
            <a:ext cx="0" cy="731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4315968"/>
            <a:ext cx="4297680" cy="384048"/>
          </a:xfrm>
          <a:prstGeom prst="roundRect">
            <a:avLst>
              <a:gd name="adj" fmla="val 16667"/>
            </a:avLst>
          </a:prstGeom>
          <a:solidFill>
            <a:srgbClr val="1C3566"/>
          </a:solidFill>
          <a:ln/>
        </p:spPr>
      </p:sp>
      <p:sp>
        <p:nvSpPr>
          <p:cNvPr id="38" name="Text 36"/>
          <p:cNvSpPr/>
          <p:nvPr/>
        </p:nvSpPr>
        <p:spPr>
          <a:xfrm>
            <a:off x="4617720" y="431596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→ Predict $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5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68580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685800"/>
            <a:ext cx="109728" cy="96012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731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10789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the entire project.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90872" y="68580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685800"/>
            <a:ext cx="109728" cy="960120"/>
          </a:xfrm>
          <a:prstGeom prst="rect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731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0789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DataFrame creation, and feature manipulation.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178308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1783080"/>
            <a:ext cx="109728" cy="960120"/>
          </a:xfrm>
          <a:prstGeom prst="rect">
            <a:avLst/>
          </a:prstGeom>
          <a:solidFill>
            <a:srgbClr val="013243"/>
          </a:solidFill>
          <a:ln w="12700">
            <a:solidFill>
              <a:srgbClr val="0132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1828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" y="21762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arrays and user input data preparation.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90872" y="178308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90872" y="1783080"/>
            <a:ext cx="109728" cy="960120"/>
          </a:xfrm>
          <a:prstGeom prst="rect">
            <a:avLst/>
          </a:prstGeom>
          <a:solidFill>
            <a:srgbClr val="F89939"/>
          </a:solidFill>
          <a:ln w="12700">
            <a:solidFill>
              <a:srgbClr val="F899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828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1762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loading, train-test split, and metrics (R², MAE).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28600" y="288036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880360"/>
            <a:ext cx="109728" cy="960120"/>
          </a:xfrm>
          <a:prstGeom prst="rect">
            <a:avLst/>
          </a:prstGeom>
          <a:solidFill>
            <a:srgbClr val="189FDD"/>
          </a:solidFill>
          <a:ln w="12700">
            <a:solidFill>
              <a:srgbClr val="189F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2926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9768" y="32735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regression model — core algorithm.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90872" y="288036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90872" y="2880360"/>
            <a:ext cx="109728" cy="960120"/>
          </a:xfrm>
          <a:prstGeom prst="rect">
            <a:avLst/>
          </a:prstGeom>
          <a:solidFill>
            <a:srgbClr val="11557C"/>
          </a:solidFill>
          <a:ln w="12700">
            <a:solidFill>
              <a:srgbClr val="1155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926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2735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plots: price distribution, residuals, actual vs predicted, metrics bar.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28600" y="397764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3977640"/>
            <a:ext cx="109728" cy="960120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4023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29768" y="43708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with coolwarm colormap and annotations.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690872" y="397764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90872" y="3977640"/>
            <a:ext cx="109728" cy="960120"/>
          </a:xfrm>
          <a:prstGeom prst="rect">
            <a:avLst/>
          </a:prstGeom>
          <a:solidFill>
            <a:srgbClr val="F37726"/>
          </a:solidFill>
          <a:ln w="12700">
            <a:solidFill>
              <a:srgbClr val="F377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023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VS Code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92040" y="43708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execution environment.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5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Steps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685800"/>
            <a:ext cx="457200" cy="393192"/>
          </a:xfrm>
          <a:prstGeom prst="roundRect">
            <a:avLst>
              <a:gd name="adj" fmla="val 11628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685800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7040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libraries: pandas, numpy, matplotlib, seaborn, sklearn, xgboost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078992"/>
            <a:ext cx="0" cy="777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156716"/>
            <a:ext cx="457200" cy="393192"/>
          </a:xfrm>
          <a:prstGeom prst="roundRect">
            <a:avLst>
              <a:gd name="adj" fmla="val 11628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156716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117500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California Housing dataset → create DataFrame → drop Latitude &amp; Longitude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1549908"/>
            <a:ext cx="0" cy="777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1627632"/>
            <a:ext cx="457200" cy="393192"/>
          </a:xfrm>
          <a:prstGeom prst="roundRect">
            <a:avLst>
              <a:gd name="adj" fmla="val 11628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1627632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'price' column → plot Graph 1 (Heatmap) and Graph 2 (Price Distribution)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2020824"/>
            <a:ext cx="0" cy="777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098548"/>
            <a:ext cx="457200" cy="393192"/>
          </a:xfrm>
          <a:prstGeom prst="roundRect">
            <a:avLst>
              <a:gd name="adj" fmla="val 11628"/>
            </a:avLst>
          </a:prstGeom>
          <a:solidFill>
            <a:srgbClr val="0369A1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098548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21168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X = 6 features, Y = price → 80% train / 20% test (random_state=2)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2491740"/>
            <a:ext cx="0" cy="777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569464"/>
            <a:ext cx="457200" cy="393192"/>
          </a:xfrm>
          <a:prstGeom prst="roundRect">
            <a:avLst>
              <a:gd name="adj" fmla="val 11628"/>
            </a:avLst>
          </a:prstGeom>
          <a:solidFill>
            <a:srgbClr val="0369A1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2569464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25877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XGBRegressor on training data → model.fit(X_train, Y_train)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2962656"/>
            <a:ext cx="0" cy="777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040380"/>
            <a:ext cx="457200" cy="393192"/>
          </a:xfrm>
          <a:prstGeom prst="roundRect">
            <a:avLst>
              <a:gd name="adj" fmla="val 11628"/>
            </a:avLst>
          </a:prstGeom>
          <a:solidFill>
            <a:srgbClr val="0369A1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3040380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30586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on train &amp; test → print R² Score and MAE for both sets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3433572"/>
            <a:ext cx="0" cy="777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511296"/>
            <a:ext cx="457200" cy="393192"/>
          </a:xfrm>
          <a:prstGeom prst="roundRect">
            <a:avLst>
              <a:gd name="adj" fmla="val 11628"/>
            </a:avLst>
          </a:prstGeom>
          <a:solidFill>
            <a:srgbClr val="1C3566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" y="3511296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" y="352958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Graph 3 (Actual vs Predicted), Graph 4 (Residuals), Graph 5 (Feature Importance)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57200" y="3904488"/>
            <a:ext cx="0" cy="777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3982212"/>
            <a:ext cx="457200" cy="393192"/>
          </a:xfrm>
          <a:prstGeom prst="roundRect">
            <a:avLst>
              <a:gd name="adj" fmla="val 11628"/>
            </a:avLst>
          </a:prstGeom>
          <a:solidFill>
            <a:srgbClr val="1C3566"/>
          </a:solidFill>
          <a:ln/>
        </p:spPr>
      </p:sp>
      <p:sp>
        <p:nvSpPr>
          <p:cNvPr id="35" name="Text 33"/>
          <p:cNvSpPr/>
          <p:nvPr/>
        </p:nvSpPr>
        <p:spPr>
          <a:xfrm>
            <a:off x="228600" y="3982212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7240" y="40005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Graph 6 (Train vs Test Metrics bar chart) → show side-by-side R² &amp; MAE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57200" y="4375404"/>
            <a:ext cx="0" cy="777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" y="4453128"/>
            <a:ext cx="457200" cy="393192"/>
          </a:xfrm>
          <a:prstGeom prst="roundRect">
            <a:avLst>
              <a:gd name="adj" fmla="val 11628"/>
            </a:avLst>
          </a:prstGeom>
          <a:solidFill>
            <a:srgbClr val="1C3566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" y="4453128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7240" y="447141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6 user inputs → predict → display result in raw value and $ format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5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&amp; Visualizations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685800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685800"/>
            <a:ext cx="56692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85800"/>
            <a:ext cx="566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7589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86968" y="1124712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sns.heatmap() — feature-to-price correlation. MedInc has highest positive correlation.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685800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685800"/>
            <a:ext cx="566928" cy="1234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685800"/>
            <a:ext cx="566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67528" y="7589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Distribution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67528" y="1124712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plt.hist() — histogram of 20,640 prices with red mean &amp; orange median lines.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103120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103120"/>
            <a:ext cx="56692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103120"/>
            <a:ext cx="566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" y="2176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86968" y="2542032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plt.scatter() — predictions vs actual with red ideal-fit line. Closer = better model.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103120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103120"/>
            <a:ext cx="566928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103120"/>
            <a:ext cx="566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67528" y="2176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Plot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367528" y="2542032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(Actual−Predicted) vs Predicted. Random scatter around 0 = no systematic bias.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3520440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520440"/>
            <a:ext cx="566928" cy="1234440"/>
          </a:xfrm>
          <a:prstGeom prst="rect">
            <a:avLst/>
          </a:prstGeom>
          <a:solidFill>
            <a:srgbClr val="0A7A70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520440"/>
            <a:ext cx="566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6968" y="35935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86968" y="3959352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model.feature_importances_ — horizontal bar chart. MedInc ranked most important.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520440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520440"/>
            <a:ext cx="56692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520440"/>
            <a:ext cx="566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67528" y="35935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 Test Metrics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367528" y="3959352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bars for R² and MAE comparing training and test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5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685800"/>
            <a:ext cx="2011680" cy="1874520"/>
          </a:xfrm>
          <a:prstGeom prst="rect">
            <a:avLst/>
          </a:prstGeom>
          <a:solidFill>
            <a:srgbClr val="1C3566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685800"/>
            <a:ext cx="20116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13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 Score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10058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28600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fit on training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41448" y="685800"/>
            <a:ext cx="2011680" cy="1874520"/>
          </a:xfrm>
          <a:prstGeom prst="rect">
            <a:avLst/>
          </a:prstGeom>
          <a:solidFill>
            <a:srgbClr val="1C3566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685800"/>
            <a:ext cx="20116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713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Score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41448" y="10058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2441448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generalization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54296" y="685800"/>
            <a:ext cx="2011680" cy="1874520"/>
          </a:xfrm>
          <a:prstGeom prst="rect">
            <a:avLst/>
          </a:prstGeom>
          <a:solidFill>
            <a:srgbClr val="1C3566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54296" y="685800"/>
            <a:ext cx="20116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713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MAE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54296" y="10058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654296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≈ $19,000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67144" y="685800"/>
            <a:ext cx="2011680" cy="1874520"/>
          </a:xfrm>
          <a:prstGeom prst="rect">
            <a:avLst/>
          </a:prstGeom>
          <a:solidFill>
            <a:srgbClr val="1C3566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67144" y="685800"/>
            <a:ext cx="20116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67144" y="713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67144" y="10058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867144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≈ $31,000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" y="269748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" y="3063240"/>
            <a:ext cx="8503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(Actual vs Predicted): Points closely follow the ideal red line — model is accurate.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(Residuals): Errors randomly scattered around 0 — no systematic prediction bias.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 (Feature Importance): MedInc is the strongest predictor; AveBedrms has least impact.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 (Train vs Test): R² gap of 0.11 shows slight overfitting — acceptable for real-world data.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5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97280"/>
          <a:ext cx="45720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($100k)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4846320" y="685800"/>
          <a:ext cx="40233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228600" y="349300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20040" y="385876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Score: Proportion of variance explained — 0.83 means model explains 83% of price variance.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Average prediction error in $100k units — test MAE of 0.31 ≈ $31,000 average error.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5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658368"/>
            <a:ext cx="4251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83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Advantages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251960" cy="594360"/>
          </a:xfrm>
          <a:prstGeom prst="rect">
            <a:avLst/>
          </a:prstGeom>
          <a:solidFill>
            <a:srgbClr val="E8F4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698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High accuracy — Test R² of 0.83 on 4,128 unseen samples.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719072"/>
            <a:ext cx="4251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373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feature scaling required — tree-based model.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386584"/>
            <a:ext cx="4251960" cy="594360"/>
          </a:xfrm>
          <a:prstGeom prst="rect">
            <a:avLst/>
          </a:prstGeom>
          <a:solidFill>
            <a:srgbClr val="E8F4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40487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Captures non-linear relationships between features.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3054096"/>
            <a:ext cx="4251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7238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Built-in L1 &amp; L2 regularization prevents overfitting.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3721608"/>
            <a:ext cx="4251960" cy="594360"/>
          </a:xfrm>
          <a:prstGeom prst="rect">
            <a:avLst/>
          </a:prstGeom>
          <a:solidFill>
            <a:srgbClr val="E8F4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73989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Interactive user input for instant predictions.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658368"/>
            <a:ext cx="42519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6583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051560"/>
            <a:ext cx="4251960" cy="594360"/>
          </a:xfrm>
          <a:prstGeom prst="rect">
            <a:avLst/>
          </a:prstGeom>
          <a:solidFill>
            <a:srgbClr val="FEF2F2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698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Latitude &amp; Longitude dropped — location patterns ignored.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719072"/>
            <a:ext cx="4251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7373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Dataset from 1990 census — outdated for current markets.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386584"/>
            <a:ext cx="4251960" cy="594360"/>
          </a:xfrm>
          <a:prstGeom prst="rect">
            <a:avLst/>
          </a:prstGeom>
          <a:solidFill>
            <a:srgbClr val="FEF2F2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40487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Default hyperparameters — no GridSearchCV tuning done.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054096"/>
            <a:ext cx="4251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07238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Simple train-test split — no k-fold cross validation.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3721608"/>
            <a:ext cx="4251960" cy="594360"/>
          </a:xfrm>
          <a:prstGeom prst="rect">
            <a:avLst/>
          </a:prstGeom>
          <a:solidFill>
            <a:srgbClr val="FEF2F2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73989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Slight overfitting — 0.11 gap between train and test R².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5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Conclusion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685800"/>
            <a:ext cx="425196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4069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Re-include Lat/Long with geospatial encoding.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via GridSearchCV.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Flask/FastAPI web application.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features: crime rate, school quality, transport.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k-Fold Cross-Validation.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values for model explainability.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685800"/>
            <a:ext cx="4251960" cy="347472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6858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097280"/>
            <a:ext cx="4069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XGBRegressor achieved Test R² = 0.83 &amp; MAE ≈ $31,000.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graphs generated covering all aspects of model evaluation.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MedInc is the most influential feature for price prediction.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Lat/Long without major accuracy loss.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Dollar-value output added for practical usability.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ML pipeline: data → train → evaluate → predict.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28600" y="4206240"/>
            <a:ext cx="86868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22452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complete, working ML pipeline for house price prediction using XGBoost on the California Housing Dataset.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566"/>
          </a:solidFill>
          <a:ln w="12700">
            <a:solidFill>
              <a:srgbClr val="1C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5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685800"/>
            <a:ext cx="8686800" cy="475488"/>
          </a:xfrm>
          <a:prstGeom prst="rect">
            <a:avLst/>
          </a:prstGeom>
          <a:solidFill>
            <a:srgbClr val="E8F4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0408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Pace, R.K. &amp; Barry, R. (1997). Sparse Spatial Autoregressions. Statistics &amp; Probability Letters. (California Housing Dataset)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8600" y="1225296"/>
            <a:ext cx="8686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43584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Chen, T. &amp; Guestrin, C. (2016). XGBoost: A Scalable Tree Boosting System. ACM SIGKDD Conference.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8600" y="1764792"/>
            <a:ext cx="8686800" cy="475488"/>
          </a:xfrm>
          <a:prstGeom prst="rect">
            <a:avLst/>
          </a:prstGeom>
          <a:solidFill>
            <a:srgbClr val="E8F4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8308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Géron, A. (2019). Hands-On Machine Learning with Scikit-Learn, Keras &amp; TensorFlow. O'Reilly Media.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2304288"/>
            <a:ext cx="8686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32257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Scikit-learn Documentation — fetch_california_housing(). https://scikit-learn.org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2843784"/>
            <a:ext cx="8686800" cy="475488"/>
          </a:xfrm>
          <a:prstGeom prst="rect">
            <a:avLst/>
          </a:prstGeom>
          <a:solidFill>
            <a:srgbClr val="E8F4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620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XGBoost Python API Documentation. https://xgboost.readthedocs.io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3383280"/>
            <a:ext cx="8686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40156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Pedregosa, F. et al. (2011). Scikit-learn: Machine Learning in Python. JMLR, 12, pp. 2825-2830.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" y="3922776"/>
            <a:ext cx="8686800" cy="475488"/>
          </a:xfrm>
          <a:prstGeom prst="rect">
            <a:avLst/>
          </a:prstGeom>
          <a:solidFill>
            <a:srgbClr val="E8F4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941064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Waskom, M. (2021). Seaborn: Statistical Data Visualization. JOSS, 6(60), 3021.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" y="4462272"/>
            <a:ext cx="8686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48056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Hunter, J.D. (2007). Matplotlib: A 2D Graphics Environment. Computing in Science &amp; Engineering.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35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10972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801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8580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appreciate your time and attention.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Gupta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9319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Kajal Jewani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42519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🏠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035040" y="3291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Mini Project — VESIT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37033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Housing · XGBoost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</dc:title>
  <dc:subject>PptxGenJS Presentation</dc:subject>
  <dc:creator>PptxGenJS</dc:creator>
  <cp:lastModifiedBy>PptxGenJS</cp:lastModifiedBy>
  <cp:revision>1</cp:revision>
  <dcterms:created xsi:type="dcterms:W3CDTF">2026-04-12T15:46:09Z</dcterms:created>
  <dcterms:modified xsi:type="dcterms:W3CDTF">2026-04-12T15:46:09Z</dcterms:modified>
</cp:coreProperties>
</file>